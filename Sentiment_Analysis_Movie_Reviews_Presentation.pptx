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D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869680" y="0"/>
            <a:ext cx="3319272" cy="6858000"/>
          </a:xfrm>
          <a:prstGeom prst="rect">
            <a:avLst/>
          </a:prstGeom>
          <a:solidFill>
            <a:srgbClr val="0F1F36"/>
          </a:solidFill>
          <a:ln>
            <a:solidFill>
              <a:srgbClr val="0F1F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281160" y="0"/>
            <a:ext cx="2907792" cy="6858000"/>
          </a:xfrm>
          <a:prstGeom prst="rect">
            <a:avLst/>
          </a:prstGeom>
          <a:solidFill>
            <a:srgbClr val="132A46"/>
          </a:solidFill>
          <a:ln>
            <a:solidFill>
              <a:srgbClr val="132A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685800"/>
            <a:ext cx="4572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409AFF"/>
                </a:solidFill>
                <a:latin typeface="Aptos"/>
              </a:defRPr>
            </a:pPr>
            <a:r>
              <a:t>MACHINE LEARNING  •  NLP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325880"/>
            <a:ext cx="768096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4400" b="1">
                <a:solidFill>
                  <a:srgbClr val="F5F7FA"/>
                </a:solidFill>
                <a:latin typeface="Aptos"/>
              </a:defRPr>
            </a:pPr>
            <a:r>
              <a:t>Sentiment</a:t>
            </a:r>
            <a:br/>
            <a:r>
              <a:t>Analysis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926080"/>
            <a:ext cx="68580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700" b="0">
                <a:solidFill>
                  <a:srgbClr val="A6B0C0"/>
                </a:solidFill>
                <a:latin typeface="Aptos"/>
              </a:defRPr>
            </a:pPr>
            <a:r>
              <a:t>on Movie Reviews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" y="3886200"/>
            <a:ext cx="2651760" cy="329184"/>
          </a:xfrm>
          <a:prstGeom prst="roundRect">
            <a:avLst/>
          </a:prstGeom>
          <a:solidFill>
            <a:srgbClr val="36D399"/>
          </a:solidFill>
          <a:ln>
            <a:solidFill>
              <a:srgbClr val="36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3899915"/>
            <a:ext cx="2651760" cy="2834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0A0D14"/>
                </a:solidFill>
                <a:latin typeface="Aptos"/>
              </a:defRPr>
            </a:pPr>
            <a:r>
              <a:t>FINAL MODEL  •  LINEAR SVM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" y="4572000"/>
            <a:ext cx="1965960" cy="1143000"/>
          </a:xfrm>
          <a:prstGeom prst="roundRect">
            <a:avLst/>
          </a:prstGeom>
          <a:solidFill>
            <a:srgbClr val="151B27"/>
          </a:solidFill>
          <a:ln>
            <a:solidFill>
              <a:srgbClr val="151B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7824" y="4718304"/>
            <a:ext cx="1636776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500" b="1">
                <a:solidFill>
                  <a:srgbClr val="409AFF"/>
                </a:solidFill>
                <a:latin typeface="Aptos"/>
              </a:defRPr>
            </a:pPr>
            <a:r>
              <a:t>91.86%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7824" y="5230368"/>
            <a:ext cx="1636776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A6B0C0"/>
                </a:solidFill>
                <a:latin typeface="Aptos"/>
              </a:defRPr>
            </a:pPr>
            <a:r>
              <a:t>Test accuracy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834640" y="4572000"/>
            <a:ext cx="1965960" cy="1143000"/>
          </a:xfrm>
          <a:prstGeom prst="roundRect">
            <a:avLst/>
          </a:prstGeom>
          <a:solidFill>
            <a:srgbClr val="151B27"/>
          </a:solidFill>
          <a:ln>
            <a:solidFill>
              <a:srgbClr val="151B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999232" y="4718304"/>
            <a:ext cx="1636776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500" b="1">
                <a:solidFill>
                  <a:srgbClr val="36D399"/>
                </a:solidFill>
                <a:latin typeface="Aptos"/>
              </a:defRPr>
            </a:pPr>
            <a:r>
              <a:t>91.99%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99232" y="5230368"/>
            <a:ext cx="1636776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A6B0C0"/>
                </a:solidFill>
                <a:latin typeface="Aptos"/>
              </a:defRPr>
            </a:pPr>
            <a:r>
              <a:t>F1-score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5989320"/>
            <a:ext cx="69494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A6B0C0"/>
                </a:solidFill>
                <a:latin typeface="Aptos"/>
              </a:defRPr>
            </a:pPr>
            <a:r>
              <a:t>TF-IDF  •  Unigram + Bigram  •  C = 0.5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D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4114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409AFF"/>
                </a:solidFill>
                <a:latin typeface="Aptos"/>
              </a:defRPr>
            </a:pPr>
            <a:r>
              <a:t>01  •  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900" b="1">
                <a:solidFill>
                  <a:srgbClr val="F5F7FA"/>
                </a:solidFill>
                <a:latin typeface="Aptos"/>
              </a:defRPr>
            </a:pPr>
            <a:r>
              <a:t>Can a machine understand a movie review?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234440"/>
            <a:ext cx="106984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A6B0C0"/>
                </a:solidFill>
                <a:latin typeface="Aptos"/>
              </a:defRPr>
            </a:pPr>
            <a:r>
              <a:t>The project turns free-form review text into a binary sentiment decision.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28800"/>
            <a:ext cx="6583680" cy="3291840"/>
          </a:xfrm>
          <a:prstGeom prst="roundRect">
            <a:avLst/>
          </a:prstGeom>
          <a:solidFill>
            <a:srgbClr val="151B27"/>
          </a:solidFill>
          <a:ln>
            <a:solidFill>
              <a:srgbClr val="151B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2331720"/>
            <a:ext cx="5943600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500" b="1">
                <a:solidFill>
                  <a:srgbClr val="F5F7FA"/>
                </a:solidFill>
                <a:latin typeface="Aptos"/>
              </a:defRPr>
            </a:pPr>
            <a:r>
              <a:t>"The movie started well but became boring and predictable towards the end."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3977639"/>
            <a:ext cx="5669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A6B0C0"/>
                </a:solidFill>
                <a:latin typeface="Aptos"/>
              </a:defRPr>
            </a:pPr>
            <a:r>
              <a:t>Human interpretation → mixed / negative sentiment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26679" y="1920240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1">
                <a:solidFill>
                  <a:srgbClr val="A6B0C0"/>
                </a:solidFill>
                <a:latin typeface="Aptos"/>
              </a:defRPr>
            </a:pPr>
            <a:r>
              <a:t>RAW TEXT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635240" y="2331720"/>
            <a:ext cx="2011680" cy="685800"/>
          </a:xfrm>
          <a:prstGeom prst="roundRect">
            <a:avLst/>
          </a:prstGeom>
          <a:solidFill>
            <a:srgbClr val="1C2332"/>
          </a:solidFill>
          <a:ln>
            <a:solidFill>
              <a:srgbClr val="1C23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35240" y="2331720"/>
            <a:ext cx="201168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700" b="1">
                <a:solidFill>
                  <a:srgbClr val="F5F7FA"/>
                </a:solidFill>
                <a:latin typeface="Aptos"/>
              </a:defRPr>
            </a:pPr>
            <a:r>
              <a:t>Review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46920" y="2423160"/>
            <a:ext cx="502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200" b="1">
                <a:solidFill>
                  <a:srgbClr val="409AFF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012680" y="2331720"/>
            <a:ext cx="1508760" cy="685800"/>
          </a:xfrm>
          <a:prstGeom prst="roundRect">
            <a:avLst/>
          </a:prstGeom>
          <a:solidFill>
            <a:srgbClr val="1C2332"/>
          </a:solidFill>
          <a:ln>
            <a:solidFill>
              <a:srgbClr val="1C23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12680" y="2331720"/>
            <a:ext cx="150876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600" b="1">
                <a:solidFill>
                  <a:srgbClr val="F5F7FA"/>
                </a:solidFill>
                <a:latin typeface="Aptos"/>
              </a:defRPr>
            </a:pPr>
            <a:r>
              <a:t>TF-IDF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46920" y="3246120"/>
            <a:ext cx="502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200" b="1">
                <a:solidFill>
                  <a:srgbClr val="409AFF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635240" y="3703320"/>
            <a:ext cx="3886200" cy="685800"/>
          </a:xfrm>
          <a:prstGeom prst="roundRect">
            <a:avLst/>
          </a:prstGeom>
          <a:solidFill>
            <a:srgbClr val="1C2332"/>
          </a:solidFill>
          <a:ln>
            <a:solidFill>
              <a:srgbClr val="1C23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635240" y="3703320"/>
            <a:ext cx="388620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36D399"/>
                </a:solidFill>
                <a:latin typeface="Aptos"/>
              </a:defRPr>
            </a:pPr>
            <a:r>
              <a:t>SVM  →  POSITIVE / NEGATIVE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35240" y="4800600"/>
            <a:ext cx="3749039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0">
                <a:solidFill>
                  <a:srgbClr val="A6B0C0"/>
                </a:solidFill>
                <a:latin typeface="Aptos"/>
              </a:defRPr>
            </a:pPr>
            <a:r>
              <a:t>Goal: build a reliable classical NLP pipeline and deploy it as an interactive app.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D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4114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409AFF"/>
                </a:solidFill>
                <a:latin typeface="Aptos"/>
              </a:defRPr>
            </a:pPr>
            <a:r>
              <a:t>02  •  DATA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900" b="1">
                <a:solidFill>
                  <a:srgbClr val="F5F7FA"/>
                </a:solidFill>
                <a:latin typeface="Aptos"/>
              </a:defRPr>
            </a:pPr>
            <a:r>
              <a:t>50,000 reviews → 49,577 clean reviews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783080"/>
            <a:ext cx="2240280" cy="1143000"/>
          </a:xfrm>
          <a:prstGeom prst="roundRect">
            <a:avLst/>
          </a:prstGeom>
          <a:solidFill>
            <a:srgbClr val="151B27"/>
          </a:solidFill>
          <a:ln>
            <a:solidFill>
              <a:srgbClr val="151B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50392" y="1929384"/>
            <a:ext cx="1911096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500" b="1">
                <a:solidFill>
                  <a:srgbClr val="409AFF"/>
                </a:solidFill>
                <a:latin typeface="Aptos"/>
              </a:defRPr>
            </a:pPr>
            <a:r>
              <a:t>50,000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0392" y="2441448"/>
            <a:ext cx="1911096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A6B0C0"/>
                </a:solidFill>
                <a:latin typeface="Aptos"/>
              </a:defRPr>
            </a:pPr>
            <a:r>
              <a:t>Initial reviews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154680" y="1783080"/>
            <a:ext cx="2240280" cy="1143000"/>
          </a:xfrm>
          <a:prstGeom prst="roundRect">
            <a:avLst/>
          </a:prstGeom>
          <a:solidFill>
            <a:srgbClr val="151B27"/>
          </a:solidFill>
          <a:ln>
            <a:solidFill>
              <a:srgbClr val="151B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319272" y="1929384"/>
            <a:ext cx="1911096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500" b="1">
                <a:solidFill>
                  <a:srgbClr val="F87171"/>
                </a:solidFill>
                <a:latin typeface="Aptos"/>
              </a:defRPr>
            </a:pPr>
            <a:r>
              <a:t>418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19272" y="2441448"/>
            <a:ext cx="1911096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A6B0C0"/>
                </a:solidFill>
                <a:latin typeface="Aptos"/>
              </a:defRPr>
            </a:pPr>
            <a:r>
              <a:t>Duplicates removed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23560" y="1783080"/>
            <a:ext cx="2240280" cy="1143000"/>
          </a:xfrm>
          <a:prstGeom prst="roundRect">
            <a:avLst/>
          </a:prstGeom>
          <a:solidFill>
            <a:srgbClr val="151B27"/>
          </a:solidFill>
          <a:ln>
            <a:solidFill>
              <a:srgbClr val="151B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788152" y="1929384"/>
            <a:ext cx="1911096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500" b="1">
                <a:solidFill>
                  <a:srgbClr val="36D399"/>
                </a:solidFill>
                <a:latin typeface="Aptos"/>
              </a:defRPr>
            </a:pPr>
            <a:r>
              <a:t>49,577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88152" y="2441448"/>
            <a:ext cx="1911096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A6B0C0"/>
                </a:solidFill>
                <a:latin typeface="Aptos"/>
              </a:defRPr>
            </a:pPr>
            <a:r>
              <a:t>Final reviews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92440" y="1783080"/>
            <a:ext cx="2240280" cy="1143000"/>
          </a:xfrm>
          <a:prstGeom prst="roundRect">
            <a:avLst/>
          </a:prstGeom>
          <a:solidFill>
            <a:srgbClr val="151B27"/>
          </a:solidFill>
          <a:ln>
            <a:solidFill>
              <a:srgbClr val="151B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57031" y="1929384"/>
            <a:ext cx="1911096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500" b="1">
                <a:solidFill>
                  <a:srgbClr val="FACC15"/>
                </a:solidFill>
                <a:latin typeface="Aptos"/>
              </a:defRPr>
            </a:pPr>
            <a:r>
              <a:t>≈ 50 / 50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57031" y="2441448"/>
            <a:ext cx="1911096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A6B0C0"/>
                </a:solidFill>
                <a:latin typeface="Aptos"/>
              </a:defRPr>
            </a:pPr>
            <a:r>
              <a:t>Class balance</a:t>
            </a:r>
          </a:p>
        </p:txBody>
      </p:sp>
      <p:pic>
        <p:nvPicPr>
          <p:cNvPr id="16" name="Picture 15" descr="sentiment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3246120"/>
            <a:ext cx="5212080" cy="3474720"/>
          </a:xfrm>
          <a:prstGeom prst="rect">
            <a:avLst/>
          </a:prstGeom>
        </p:spPr>
      </p:pic>
      <p:sp>
        <p:nvSpPr>
          <p:cNvPr id="17" name="Rounded Rectangle 16"/>
          <p:cNvSpPr/>
          <p:nvPr/>
        </p:nvSpPr>
        <p:spPr>
          <a:xfrm>
            <a:off x="6400800" y="3337560"/>
            <a:ext cx="4983480" cy="2331720"/>
          </a:xfrm>
          <a:prstGeom prst="roundRect">
            <a:avLst/>
          </a:prstGeom>
          <a:solidFill>
            <a:srgbClr val="151B27"/>
          </a:solidFill>
          <a:ln>
            <a:solidFill>
              <a:srgbClr val="151B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720840" y="3657600"/>
            <a:ext cx="2286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409AFF"/>
                </a:solidFill>
                <a:latin typeface="Aptos"/>
              </a:defRPr>
            </a:pPr>
            <a:r>
              <a:t>EDA TAKEAWAY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20840" y="4069080"/>
            <a:ext cx="4251960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1">
                <a:solidFill>
                  <a:srgbClr val="F5F7FA"/>
                </a:solidFill>
                <a:latin typeface="Aptos"/>
              </a:defRPr>
            </a:pPr>
            <a:r>
              <a:t>The dataset is nearly balanced between positive and negative reviews, so the classifier is not dominated by one class.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D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4114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409AFF"/>
                </a:solidFill>
                <a:latin typeface="Aptos"/>
              </a:defRPr>
            </a:pPr>
            <a:r>
              <a:t>03  •  PREPROCESSING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900" b="1">
                <a:solidFill>
                  <a:srgbClr val="F5F7FA"/>
                </a:solidFill>
                <a:latin typeface="Aptos"/>
              </a:defRPr>
            </a:pPr>
            <a:r>
              <a:t>From messy HTML to model-ready text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920240"/>
            <a:ext cx="2514600" cy="2971800"/>
          </a:xfrm>
          <a:prstGeom prst="roundRect">
            <a:avLst/>
          </a:prstGeom>
          <a:solidFill>
            <a:srgbClr val="151B27"/>
          </a:solidFill>
          <a:ln>
            <a:solidFill>
              <a:srgbClr val="151B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2148840"/>
            <a:ext cx="5029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1">
                <a:solidFill>
                  <a:srgbClr val="409AFF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743200"/>
            <a:ext cx="2057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1">
                <a:solidFill>
                  <a:srgbClr val="F5F7FA"/>
                </a:solidFill>
                <a:latin typeface="Aptos"/>
              </a:defRPr>
            </a:pPr>
            <a:r>
              <a:t>Remove duplicates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3474720"/>
            <a:ext cx="20574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A6B0C0"/>
                </a:solidFill>
                <a:latin typeface="Aptos"/>
              </a:defRPr>
            </a:pPr>
            <a:r>
              <a:t>Prevent repeated reviews from biasing training.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93008" y="1920240"/>
            <a:ext cx="2514600" cy="2971800"/>
          </a:xfrm>
          <a:prstGeom prst="roundRect">
            <a:avLst/>
          </a:prstGeom>
          <a:solidFill>
            <a:srgbClr val="151B27"/>
          </a:solidFill>
          <a:ln>
            <a:solidFill>
              <a:srgbClr val="151B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21608" y="2148840"/>
            <a:ext cx="5029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1">
                <a:solidFill>
                  <a:srgbClr val="409AFF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21608" y="2743200"/>
            <a:ext cx="2057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1">
                <a:solidFill>
                  <a:srgbClr val="F5F7FA"/>
                </a:solidFill>
                <a:latin typeface="Aptos"/>
              </a:defRPr>
            </a:pPr>
            <a:r>
              <a:t>Clean HTML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21608" y="3474720"/>
            <a:ext cx="20574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A6B0C0"/>
                </a:solidFill>
                <a:latin typeface="Aptos"/>
              </a:defRPr>
            </a:pPr>
            <a:r>
              <a:t>Strip tags such as &lt;br /&gt; from reviews.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45936" y="1920240"/>
            <a:ext cx="2514600" cy="2971800"/>
          </a:xfrm>
          <a:prstGeom prst="roundRect">
            <a:avLst/>
          </a:prstGeom>
          <a:solidFill>
            <a:srgbClr val="151B27"/>
          </a:solidFill>
          <a:ln>
            <a:solidFill>
              <a:srgbClr val="151B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74536" y="2148840"/>
            <a:ext cx="5029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1">
                <a:solidFill>
                  <a:srgbClr val="409AFF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74536" y="2743200"/>
            <a:ext cx="2057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1">
                <a:solidFill>
                  <a:srgbClr val="F5F7FA"/>
                </a:solidFill>
                <a:latin typeface="Aptos"/>
              </a:defRPr>
            </a:pPr>
            <a:r>
              <a:t>Normalize text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74536" y="3474720"/>
            <a:ext cx="20574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A6B0C0"/>
                </a:solidFill>
                <a:latin typeface="Aptos"/>
              </a:defRPr>
            </a:pPr>
            <a:r>
              <a:t>Prepare consistent text for vectorization.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98863" y="1920240"/>
            <a:ext cx="2514600" cy="2971800"/>
          </a:xfrm>
          <a:prstGeom prst="roundRect">
            <a:avLst/>
          </a:prstGeom>
          <a:solidFill>
            <a:srgbClr val="151B27"/>
          </a:solidFill>
          <a:ln>
            <a:solidFill>
              <a:srgbClr val="151B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427463" y="2148840"/>
            <a:ext cx="5029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1">
                <a:solidFill>
                  <a:srgbClr val="409AFF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27463" y="2743200"/>
            <a:ext cx="2057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1">
                <a:solidFill>
                  <a:srgbClr val="F5F7FA"/>
                </a:solidFill>
                <a:latin typeface="Aptos"/>
              </a:defRPr>
            </a:pPr>
            <a:r>
              <a:t>Stratified split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27463" y="3474720"/>
            <a:ext cx="20574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A6B0C0"/>
                </a:solidFill>
                <a:latin typeface="Aptos"/>
              </a:defRPr>
            </a:pPr>
            <a:r>
              <a:t>39,665 train  •  9,916 test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D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4114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409AFF"/>
                </a:solidFill>
                <a:latin typeface="Aptos"/>
              </a:defRPr>
            </a:pPr>
            <a:r>
              <a:t>04  •  TEXT REPRESENTATION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900" b="1">
                <a:solidFill>
                  <a:srgbClr val="F5F7FA"/>
                </a:solidFill>
                <a:latin typeface="Aptos"/>
              </a:defRPr>
            </a:pPr>
            <a:r>
              <a:t>TF-IDF gives the model words + context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828800"/>
            <a:ext cx="5212080" cy="3474720"/>
          </a:xfrm>
          <a:prstGeom prst="roundRect">
            <a:avLst/>
          </a:prstGeom>
          <a:solidFill>
            <a:srgbClr val="151B27"/>
          </a:solidFill>
          <a:ln>
            <a:solidFill>
              <a:srgbClr val="151B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60120" y="2148840"/>
            <a:ext cx="1143000" cy="329184"/>
          </a:xfrm>
          <a:prstGeom prst="roundRect">
            <a:avLst/>
          </a:prstGeom>
          <a:solidFill>
            <a:srgbClr val="409AFF"/>
          </a:solidFill>
          <a:ln>
            <a:solidFill>
              <a:srgbClr val="409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2162556"/>
            <a:ext cx="1143000" cy="2834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0A0D14"/>
                </a:solidFill>
                <a:latin typeface="Aptos"/>
              </a:defRPr>
            </a:pPr>
            <a:r>
              <a:t>UNIGRAM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788920"/>
            <a:ext cx="448056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700" b="1">
                <a:solidFill>
                  <a:srgbClr val="F5F7FA"/>
                </a:solidFill>
                <a:latin typeface="Aptos"/>
              </a:defRPr>
            </a:pPr>
            <a:r>
              <a:t>"excellent"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3657600"/>
            <a:ext cx="4343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A6B0C0"/>
                </a:solidFill>
                <a:latin typeface="Aptos"/>
              </a:defRPr>
            </a:pPr>
            <a:r>
              <a:t>One-word features capture individual sentiment-bearing terms.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828800"/>
            <a:ext cx="5212080" cy="3474720"/>
          </a:xfrm>
          <a:prstGeom prst="roundRect">
            <a:avLst/>
          </a:prstGeom>
          <a:solidFill>
            <a:srgbClr val="151B27"/>
          </a:solidFill>
          <a:ln>
            <a:solidFill>
              <a:srgbClr val="151B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537960" y="2148840"/>
            <a:ext cx="1097280" cy="329184"/>
          </a:xfrm>
          <a:prstGeom prst="roundRect">
            <a:avLst/>
          </a:prstGeom>
          <a:solidFill>
            <a:srgbClr val="36D399"/>
          </a:solidFill>
          <a:ln>
            <a:solidFill>
              <a:srgbClr val="36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37960" y="2162556"/>
            <a:ext cx="1097280" cy="2834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0A0D14"/>
                </a:solidFill>
                <a:latin typeface="Aptos"/>
              </a:defRPr>
            </a:pPr>
            <a:r>
              <a:t>BIGRAM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37960" y="2788920"/>
            <a:ext cx="448056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700" b="1">
                <a:solidFill>
                  <a:srgbClr val="F5F7FA"/>
                </a:solidFill>
                <a:latin typeface="Aptos"/>
              </a:defRPr>
            </a:pPr>
            <a:r>
              <a:t>"not good"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7960" y="3657600"/>
            <a:ext cx="4343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A6B0C0"/>
                </a:solidFill>
                <a:latin typeface="Aptos"/>
              </a:defRPr>
            </a:pPr>
            <a:r>
              <a:t>Two-word features capture short phrases and improve contextual signal.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5806440"/>
            <a:ext cx="10332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500" b="1">
                <a:solidFill>
                  <a:srgbClr val="F5F7FA"/>
                </a:solidFill>
                <a:latin typeface="Aptos"/>
              </a:defRPr>
            </a:pPr>
            <a:r>
              <a:t>Final representation: 613,727 unigram + bigram TF-IDF features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D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4114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409AFF"/>
                </a:solidFill>
                <a:latin typeface="Aptos"/>
              </a:defRPr>
            </a:pPr>
            <a:r>
              <a:t>05  •  MODEL BENCHMARK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900" b="1">
                <a:solidFill>
                  <a:srgbClr val="F5F7FA"/>
                </a:solidFill>
                <a:latin typeface="Aptos"/>
              </a:defRPr>
            </a:pPr>
            <a:r>
              <a:t>Three classical classifiers. One clear winner.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828800"/>
            <a:ext cx="2011680" cy="3108960"/>
          </a:xfrm>
          <a:prstGeom prst="roundRect">
            <a:avLst/>
          </a:prstGeom>
          <a:solidFill>
            <a:srgbClr val="151B27"/>
          </a:solidFill>
          <a:ln>
            <a:solidFill>
              <a:srgbClr val="151B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58952" y="2148840"/>
            <a:ext cx="1682496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500" b="1">
                <a:solidFill>
                  <a:srgbClr val="F5F7FA"/>
                </a:solidFill>
                <a:latin typeface="Aptos"/>
              </a:defRPr>
            </a:pPr>
            <a:r>
              <a:t>Naive Bayes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" y="2971800"/>
            <a:ext cx="1682496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500" b="1">
                <a:solidFill>
                  <a:srgbClr val="409AFF"/>
                </a:solidFill>
                <a:latin typeface="Aptos"/>
              </a:defRPr>
            </a:pPr>
            <a:r>
              <a:t>86.64%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8952" y="3886200"/>
            <a:ext cx="1682496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0">
                <a:solidFill>
                  <a:srgbClr val="A6B0C0"/>
                </a:solidFill>
                <a:latin typeface="Aptos"/>
              </a:defRPr>
            </a:pPr>
            <a:r>
              <a:t>Unigram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862072" y="1828800"/>
            <a:ext cx="2011680" cy="3108960"/>
          </a:xfrm>
          <a:prstGeom prst="roundRect">
            <a:avLst/>
          </a:prstGeom>
          <a:solidFill>
            <a:srgbClr val="151B27"/>
          </a:solidFill>
          <a:ln>
            <a:solidFill>
              <a:srgbClr val="151B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26664" y="2148840"/>
            <a:ext cx="1682496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500" b="1">
                <a:solidFill>
                  <a:srgbClr val="F5F7FA"/>
                </a:solidFill>
                <a:latin typeface="Aptos"/>
              </a:defRPr>
            </a:pPr>
            <a:r>
              <a:t>Naive Bayes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26664" y="2971800"/>
            <a:ext cx="1682496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500" b="1">
                <a:solidFill>
                  <a:srgbClr val="409AFF"/>
                </a:solidFill>
                <a:latin typeface="Aptos"/>
              </a:defRPr>
            </a:pPr>
            <a:r>
              <a:t>89.59%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26664" y="3886200"/>
            <a:ext cx="1682496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0">
                <a:solidFill>
                  <a:srgbClr val="A6B0C0"/>
                </a:solidFill>
                <a:latin typeface="Aptos"/>
              </a:defRPr>
            </a:pPr>
            <a:r>
              <a:t>Uni + Bigram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129784" y="1828800"/>
            <a:ext cx="2011680" cy="3108960"/>
          </a:xfrm>
          <a:prstGeom prst="roundRect">
            <a:avLst/>
          </a:prstGeom>
          <a:solidFill>
            <a:srgbClr val="151B27"/>
          </a:solidFill>
          <a:ln>
            <a:solidFill>
              <a:srgbClr val="151B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294376" y="2148840"/>
            <a:ext cx="1682496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500" b="1">
                <a:solidFill>
                  <a:srgbClr val="F5F7FA"/>
                </a:solidFill>
                <a:latin typeface="Aptos"/>
              </a:defRPr>
            </a:pPr>
            <a:r>
              <a:t>Logistic Regression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94376" y="2971800"/>
            <a:ext cx="1682496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500" b="1">
                <a:solidFill>
                  <a:srgbClr val="FACC15"/>
                </a:solidFill>
                <a:latin typeface="Aptos"/>
              </a:defRPr>
            </a:pPr>
            <a:r>
              <a:t>90.55%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94376" y="3886200"/>
            <a:ext cx="1682496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0">
                <a:solidFill>
                  <a:srgbClr val="A6B0C0"/>
                </a:solidFill>
                <a:latin typeface="Aptos"/>
              </a:defRPr>
            </a:pPr>
            <a:r>
              <a:t>Uni + Bigram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97496" y="1828800"/>
            <a:ext cx="2011680" cy="3108960"/>
          </a:xfrm>
          <a:prstGeom prst="roundRect">
            <a:avLst/>
          </a:prstGeom>
          <a:solidFill>
            <a:srgbClr val="151B27"/>
          </a:solidFill>
          <a:ln>
            <a:solidFill>
              <a:srgbClr val="151B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562088" y="2148840"/>
            <a:ext cx="1682496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500" b="1">
                <a:solidFill>
                  <a:srgbClr val="F5F7FA"/>
                </a:solidFill>
                <a:latin typeface="Aptos"/>
              </a:defRPr>
            </a:pPr>
            <a:r>
              <a:t>SVM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62088" y="2971800"/>
            <a:ext cx="1682496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500" b="1">
                <a:solidFill>
                  <a:srgbClr val="36D399"/>
                </a:solidFill>
                <a:latin typeface="Aptos"/>
              </a:defRPr>
            </a:pPr>
            <a:r>
              <a:t>89.95%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62088" y="3886200"/>
            <a:ext cx="1682496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0">
                <a:solidFill>
                  <a:srgbClr val="A6B0C0"/>
                </a:solidFill>
                <a:latin typeface="Aptos"/>
              </a:defRPr>
            </a:pPr>
            <a:r>
              <a:t>Unigram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665208" y="1828800"/>
            <a:ext cx="2011680" cy="3108960"/>
          </a:xfrm>
          <a:prstGeom prst="roundRect">
            <a:avLst/>
          </a:prstGeom>
          <a:solidFill>
            <a:srgbClr val="151B27"/>
          </a:solidFill>
          <a:ln>
            <a:solidFill>
              <a:srgbClr val="151B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829800" y="2148840"/>
            <a:ext cx="1682496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500" b="1">
                <a:solidFill>
                  <a:srgbClr val="F5F7FA"/>
                </a:solidFill>
                <a:latin typeface="Aptos"/>
              </a:defRPr>
            </a:pPr>
            <a:r>
              <a:t>SVM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829800" y="2971800"/>
            <a:ext cx="1682496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500" b="1">
                <a:solidFill>
                  <a:srgbClr val="36D399"/>
                </a:solidFill>
                <a:latin typeface="Aptos"/>
              </a:defRPr>
            </a:pPr>
            <a:r>
              <a:t>91.86%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829800" y="3886200"/>
            <a:ext cx="1682496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0">
                <a:solidFill>
                  <a:srgbClr val="A6B0C0"/>
                </a:solidFill>
                <a:latin typeface="Aptos"/>
              </a:defRPr>
            </a:pPr>
            <a:r>
              <a:t>Uni + Bigram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5715000"/>
            <a:ext cx="103327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800" b="1">
                <a:solidFill>
                  <a:srgbClr val="36D399"/>
                </a:solidFill>
                <a:latin typeface="Aptos"/>
              </a:defRPr>
            </a:pPr>
            <a:r>
              <a:t>SVM + Unigram/Bigram wins on accuracy and F1.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D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4114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409AFF"/>
                </a:solidFill>
                <a:latin typeface="Aptos"/>
              </a:defRPr>
            </a:pPr>
            <a:r>
              <a:t>06  • 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900" b="1">
                <a:solidFill>
                  <a:srgbClr val="F5F7FA"/>
                </a:solidFill>
                <a:latin typeface="Aptos"/>
              </a:defRPr>
            </a:pPr>
            <a:r>
              <a:t>The performance gap is visible</a:t>
            </a:r>
          </a:p>
        </p:txBody>
      </p:sp>
      <p:pic>
        <p:nvPicPr>
          <p:cNvPr id="4" name="Picture 3" descr="01_model_accurac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508760"/>
            <a:ext cx="6903720" cy="4139535"/>
          </a:xfrm>
          <a:prstGeom prst="rect">
            <a:avLst/>
          </a:prstGeom>
        </p:spPr>
      </p:pic>
      <p:pic>
        <p:nvPicPr>
          <p:cNvPr id="5" name="Picture 4" descr="02_f1_score_comparis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43800" y="1508760"/>
            <a:ext cx="4114800" cy="24003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818120" y="5440680"/>
            <a:ext cx="35661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3000" b="1">
                <a:solidFill>
                  <a:srgbClr val="36D399"/>
                </a:solidFill>
                <a:latin typeface="Aptos"/>
              </a:defRPr>
            </a:pPr>
            <a:r>
              <a:t>91.86%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18120" y="5943600"/>
            <a:ext cx="3566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0">
                <a:solidFill>
                  <a:srgbClr val="A6B0C0"/>
                </a:solidFill>
                <a:latin typeface="Aptos"/>
              </a:defRPr>
            </a:pPr>
            <a:r>
              <a:t>best accuracy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D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4114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409AFF"/>
                </a:solidFill>
                <a:latin typeface="Aptos"/>
              </a:defRPr>
            </a:pPr>
            <a:r>
              <a:t>07  •  OPTIMIZATION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900" b="1">
                <a:solidFill>
                  <a:srgbClr val="F5F7FA"/>
                </a:solidFill>
                <a:latin typeface="Aptos"/>
              </a:defRPr>
            </a:pPr>
            <a:r>
              <a:t>We didn't stop at the first good model</a:t>
            </a:r>
          </a:p>
        </p:txBody>
      </p:sp>
      <p:pic>
        <p:nvPicPr>
          <p:cNvPr id="4" name="Picture 3" descr="03_feature_selec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508760"/>
            <a:ext cx="5577840" cy="3346704"/>
          </a:xfrm>
          <a:prstGeom prst="rect">
            <a:avLst/>
          </a:prstGeom>
        </p:spPr>
      </p:pic>
      <p:pic>
        <p:nvPicPr>
          <p:cNvPr id="5" name="Picture 4" descr="04_svm_tun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508760"/>
            <a:ext cx="5486400" cy="329184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4754880" y="5897880"/>
            <a:ext cx="2651760" cy="329184"/>
          </a:xfrm>
          <a:prstGeom prst="roundRect">
            <a:avLst/>
          </a:prstGeom>
          <a:solidFill>
            <a:srgbClr val="36D399"/>
          </a:solidFill>
          <a:ln>
            <a:solidFill>
              <a:srgbClr val="36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0" y="5911596"/>
            <a:ext cx="2651760" cy="2834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0A0D14"/>
                </a:solidFill>
                <a:latin typeface="Aptos"/>
              </a:defRPr>
            </a:pPr>
            <a:r>
              <a:t>SELECTED C = 0.5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D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4114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409AFF"/>
                </a:solidFill>
                <a:latin typeface="Aptos"/>
              </a:defRPr>
            </a:pPr>
            <a:r>
              <a:t>08  •  FINAL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900" b="1">
                <a:solidFill>
                  <a:srgbClr val="F5F7FA"/>
                </a:solidFill>
                <a:latin typeface="Aptos"/>
              </a:defRPr>
            </a:pPr>
            <a:r>
              <a:t>Linear SVM + TF-IDF Unigram/Bigram</a:t>
            </a:r>
          </a:p>
        </p:txBody>
      </p:sp>
      <p:pic>
        <p:nvPicPr>
          <p:cNvPr id="4" name="Picture 3" descr="05_confusion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554480"/>
            <a:ext cx="4754880" cy="416052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897880" y="1691640"/>
            <a:ext cx="2514600" cy="1143000"/>
          </a:xfrm>
          <a:prstGeom prst="roundRect">
            <a:avLst/>
          </a:prstGeom>
          <a:solidFill>
            <a:srgbClr val="151B27"/>
          </a:solidFill>
          <a:ln>
            <a:solidFill>
              <a:srgbClr val="151B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62472" y="1837944"/>
            <a:ext cx="2185416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500" b="1">
                <a:solidFill>
                  <a:srgbClr val="409AFF"/>
                </a:solidFill>
                <a:latin typeface="Aptos"/>
              </a:defRPr>
            </a:pPr>
            <a:r>
              <a:t>91.86%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62472" y="2350008"/>
            <a:ext cx="2185416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A6B0C0"/>
                </a:solidFill>
                <a:latin typeface="Aptos"/>
              </a:defRPr>
            </a:pPr>
            <a:r>
              <a:t>Accuracy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41080" y="1691640"/>
            <a:ext cx="2514600" cy="1143000"/>
          </a:xfrm>
          <a:prstGeom prst="roundRect">
            <a:avLst/>
          </a:prstGeom>
          <a:solidFill>
            <a:srgbClr val="151B27"/>
          </a:solidFill>
          <a:ln>
            <a:solidFill>
              <a:srgbClr val="151B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05672" y="1837944"/>
            <a:ext cx="2185416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500" b="1">
                <a:solidFill>
                  <a:srgbClr val="FACC15"/>
                </a:solidFill>
                <a:latin typeface="Aptos"/>
              </a:defRPr>
            </a:pPr>
            <a:r>
              <a:t>90.95%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05672" y="2350008"/>
            <a:ext cx="2185416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A6B0C0"/>
                </a:solidFill>
                <a:latin typeface="Aptos"/>
              </a:defRPr>
            </a:pPr>
            <a:r>
              <a:t>Precision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897880" y="3063240"/>
            <a:ext cx="2514600" cy="1143000"/>
          </a:xfrm>
          <a:prstGeom prst="roundRect">
            <a:avLst/>
          </a:prstGeom>
          <a:solidFill>
            <a:srgbClr val="151B27"/>
          </a:solidFill>
          <a:ln>
            <a:solidFill>
              <a:srgbClr val="151B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062472" y="3209544"/>
            <a:ext cx="2185416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500" b="1">
                <a:solidFill>
                  <a:srgbClr val="36D399"/>
                </a:solidFill>
                <a:latin typeface="Aptos"/>
              </a:defRPr>
            </a:pPr>
            <a:r>
              <a:t>93.05%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62472" y="3721608"/>
            <a:ext cx="2185416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A6B0C0"/>
                </a:solidFill>
                <a:latin typeface="Aptos"/>
              </a:defRPr>
            </a:pPr>
            <a:r>
              <a:t>Recall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641080" y="3063240"/>
            <a:ext cx="2514600" cy="1143000"/>
          </a:xfrm>
          <a:prstGeom prst="roundRect">
            <a:avLst/>
          </a:prstGeom>
          <a:solidFill>
            <a:srgbClr val="151B27"/>
          </a:solidFill>
          <a:ln>
            <a:solidFill>
              <a:srgbClr val="151B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805672" y="3209544"/>
            <a:ext cx="2185416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500" b="1">
                <a:solidFill>
                  <a:srgbClr val="36D399"/>
                </a:solidFill>
                <a:latin typeface="Aptos"/>
              </a:defRPr>
            </a:pPr>
            <a:r>
              <a:t>91.99%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05672" y="3721608"/>
            <a:ext cx="2185416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A6B0C0"/>
                </a:solidFill>
                <a:latin typeface="Aptos"/>
              </a:defRPr>
            </a:pPr>
            <a:r>
              <a:t>F1-score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897880" y="4526280"/>
            <a:ext cx="5257800" cy="1097280"/>
          </a:xfrm>
          <a:prstGeom prst="roundRect">
            <a:avLst/>
          </a:prstGeom>
          <a:solidFill>
            <a:srgbClr val="151B27"/>
          </a:solidFill>
          <a:ln>
            <a:solidFill>
              <a:srgbClr val="151B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80760" y="4736592"/>
            <a:ext cx="489204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600" b="1">
                <a:solidFill>
                  <a:srgbClr val="F5F7FA"/>
                </a:solidFill>
                <a:latin typeface="Aptos"/>
              </a:defRPr>
            </a:pPr>
            <a:r>
              <a:t>C = 0.5  •  6.13 lakh TF-IDF features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D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4114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409AFF"/>
                </a:solidFill>
                <a:latin typeface="Aptos"/>
              </a:defRPr>
            </a:pPr>
            <a:r>
              <a:t>09  •  DEPLOYMENT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900" b="1">
                <a:solidFill>
                  <a:srgbClr val="F5F7FA"/>
                </a:solidFill>
                <a:latin typeface="Aptos"/>
              </a:defRPr>
            </a:pPr>
            <a:r>
              <a:t>From terminal experiment to usable application</a:t>
            </a:r>
          </a:p>
        </p:txBody>
      </p:sp>
      <p:pic>
        <p:nvPicPr>
          <p:cNvPr id="4" name="Picture 3" descr="image(20261005-135215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508760"/>
            <a:ext cx="5486400" cy="2243129"/>
          </a:xfrm>
          <a:prstGeom prst="rect">
            <a:avLst/>
          </a:prstGeom>
        </p:spPr>
      </p:pic>
      <p:pic>
        <p:nvPicPr>
          <p:cNvPr id="5" name="Picture 4" descr="image(20261005-135218)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508760"/>
            <a:ext cx="5486400" cy="220376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920240" y="5989320"/>
            <a:ext cx="2560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1">
                <a:solidFill>
                  <a:srgbClr val="36D399"/>
                </a:solidFill>
                <a:latin typeface="Aptos"/>
              </a:defRPr>
            </a:pPr>
            <a:r>
              <a:t>POSITIVE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38160" y="5989320"/>
            <a:ext cx="2560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1">
                <a:solidFill>
                  <a:srgbClr val="F87171"/>
                </a:solidFill>
                <a:latin typeface="Aptos"/>
              </a:defRPr>
            </a:pPr>
            <a:r>
              <a:t>NEGATIVE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D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4114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409AFF"/>
                </a:solidFill>
                <a:latin typeface="Aptos"/>
              </a:defRPr>
            </a:pPr>
            <a:r>
              <a:t>10  •  SYSTEM 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900" b="1">
                <a:solidFill>
                  <a:srgbClr val="F5F7FA"/>
                </a:solidFill>
                <a:latin typeface="Aptos"/>
              </a:defRPr>
            </a:pPr>
            <a:r>
              <a:t>How one review becomes a prediction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11480" y="2331720"/>
            <a:ext cx="1965960" cy="1325880"/>
          </a:xfrm>
          <a:prstGeom prst="roundRect">
            <a:avLst/>
          </a:prstGeom>
          <a:solidFill>
            <a:srgbClr val="151B27"/>
          </a:solidFill>
          <a:ln>
            <a:solidFill>
              <a:srgbClr val="151B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2560320"/>
            <a:ext cx="1965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409AFF"/>
                </a:solidFill>
                <a:latin typeface="Aptos"/>
              </a:defRPr>
            </a:pPr>
            <a:r>
              <a:t>INPUT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971800"/>
            <a:ext cx="16916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1">
                <a:solidFill>
                  <a:srgbClr val="F5F7FA"/>
                </a:solidFill>
                <a:latin typeface="Aptos"/>
              </a:defRPr>
            </a:pPr>
            <a:r>
              <a:t>Movie review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77440" y="2697480"/>
            <a:ext cx="365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200" b="1">
                <a:solidFill>
                  <a:srgbClr val="A6B0C0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43200" y="2331720"/>
            <a:ext cx="1965960" cy="1325880"/>
          </a:xfrm>
          <a:prstGeom prst="roundRect">
            <a:avLst/>
          </a:prstGeom>
          <a:solidFill>
            <a:srgbClr val="151B27"/>
          </a:solidFill>
          <a:ln>
            <a:solidFill>
              <a:srgbClr val="151B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0" y="2560320"/>
            <a:ext cx="1965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FACC15"/>
                </a:solidFill>
                <a:latin typeface="Aptos"/>
              </a:defRPr>
            </a:pPr>
            <a:r>
              <a:t>CLEAN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80360" y="2971800"/>
            <a:ext cx="16916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1">
                <a:solidFill>
                  <a:srgbClr val="F5F7FA"/>
                </a:solidFill>
                <a:latin typeface="Aptos"/>
              </a:defRPr>
            </a:pPr>
            <a:r>
              <a:t>Text preprocessing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09160" y="2697480"/>
            <a:ext cx="365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200" b="1">
                <a:solidFill>
                  <a:srgbClr val="A6B0C0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74920" y="2331720"/>
            <a:ext cx="1965960" cy="1325880"/>
          </a:xfrm>
          <a:prstGeom prst="roundRect">
            <a:avLst/>
          </a:prstGeom>
          <a:solidFill>
            <a:srgbClr val="151B27"/>
          </a:solidFill>
          <a:ln>
            <a:solidFill>
              <a:srgbClr val="151B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74920" y="2560320"/>
            <a:ext cx="1965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409AFF"/>
                </a:solidFill>
                <a:latin typeface="Aptos"/>
              </a:defRPr>
            </a:pPr>
            <a:r>
              <a:t>VECTORIZE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12080" y="2971800"/>
            <a:ext cx="16916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1">
                <a:solidFill>
                  <a:srgbClr val="F5F7FA"/>
                </a:solidFill>
                <a:latin typeface="Aptos"/>
              </a:defRPr>
            </a:pPr>
            <a:r>
              <a:t>TF-IDF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79" y="2697480"/>
            <a:ext cx="365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200" b="1">
                <a:solidFill>
                  <a:srgbClr val="A6B0C0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406640" y="2331720"/>
            <a:ext cx="1965960" cy="1325880"/>
          </a:xfrm>
          <a:prstGeom prst="roundRect">
            <a:avLst/>
          </a:prstGeom>
          <a:solidFill>
            <a:srgbClr val="151B27"/>
          </a:solidFill>
          <a:ln>
            <a:solidFill>
              <a:srgbClr val="151B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06640" y="2560320"/>
            <a:ext cx="1965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36D399"/>
                </a:solidFill>
                <a:latin typeface="Aptos"/>
              </a:defRPr>
            </a:pPr>
            <a:r>
              <a:t>CLASSIFY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43800" y="2971800"/>
            <a:ext cx="16916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1">
                <a:solidFill>
                  <a:srgbClr val="F5F7FA"/>
                </a:solidFill>
                <a:latin typeface="Aptos"/>
              </a:defRPr>
            </a:pPr>
            <a:r>
              <a:t>Linear SVM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72600" y="2697480"/>
            <a:ext cx="365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200" b="1">
                <a:solidFill>
                  <a:srgbClr val="A6B0C0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738359" y="2331720"/>
            <a:ext cx="1965960" cy="1325880"/>
          </a:xfrm>
          <a:prstGeom prst="roundRect">
            <a:avLst/>
          </a:prstGeom>
          <a:solidFill>
            <a:srgbClr val="151B27"/>
          </a:solidFill>
          <a:ln>
            <a:solidFill>
              <a:srgbClr val="151B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738359" y="2560320"/>
            <a:ext cx="1965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36D399"/>
                </a:solidFill>
                <a:latin typeface="Aptos"/>
              </a:defRPr>
            </a:pPr>
            <a:r>
              <a:t>OUTPUT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875519" y="2971800"/>
            <a:ext cx="16916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1">
                <a:solidFill>
                  <a:srgbClr val="F5F7FA"/>
                </a:solidFill>
                <a:latin typeface="Aptos"/>
              </a:defRPr>
            </a:pPr>
            <a:r>
              <a:t>Positive / Negative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4800600"/>
            <a:ext cx="103327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600" b="1">
                <a:solidFill>
                  <a:srgbClr val="F5F7FA"/>
                </a:solidFill>
                <a:latin typeface="Aptos"/>
              </a:defRPr>
            </a:pPr>
            <a:r>
              <a:t>Saved artifacts: sentiment_svm.pkl  +  tfidf_vectorizer.pkl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5394960"/>
            <a:ext cx="10332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0">
                <a:solidFill>
                  <a:srgbClr val="A6B0C0"/>
                </a:solidFill>
                <a:latin typeface="Aptos"/>
              </a:defRPr>
            </a:pPr>
            <a:r>
              <a:t>Interactive UI built with Streamlit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D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4114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409AFF"/>
                </a:solidFill>
                <a:latin typeface="Aptos"/>
              </a:defRPr>
            </a:pPr>
            <a:r>
              <a:t>11  •  TAKEAWAY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900" b="1">
                <a:solidFill>
                  <a:srgbClr val="F5F7FA"/>
                </a:solidFill>
                <a:latin typeface="Aptos"/>
              </a:defRPr>
            </a:pPr>
            <a:r>
              <a:t>A strong classical NLP baseline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783080"/>
            <a:ext cx="2423160" cy="1143000"/>
          </a:xfrm>
          <a:prstGeom prst="roundRect">
            <a:avLst/>
          </a:prstGeom>
          <a:solidFill>
            <a:srgbClr val="151B27"/>
          </a:solidFill>
          <a:ln>
            <a:solidFill>
              <a:srgbClr val="151B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96112" y="1929384"/>
            <a:ext cx="2093976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500" b="1">
                <a:solidFill>
                  <a:srgbClr val="409AFF"/>
                </a:solidFill>
                <a:latin typeface="Aptos"/>
              </a:defRPr>
            </a:pPr>
            <a:r>
              <a:t>91.86%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6112" y="2441448"/>
            <a:ext cx="2093976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A6B0C0"/>
                </a:solidFill>
                <a:latin typeface="Aptos"/>
              </a:defRPr>
            </a:pPr>
            <a:r>
              <a:t>Accuracy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83280" y="1783080"/>
            <a:ext cx="2423160" cy="1143000"/>
          </a:xfrm>
          <a:prstGeom prst="roundRect">
            <a:avLst/>
          </a:prstGeom>
          <a:solidFill>
            <a:srgbClr val="151B27"/>
          </a:solidFill>
          <a:ln>
            <a:solidFill>
              <a:srgbClr val="151B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547872" y="1929384"/>
            <a:ext cx="2093976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500" b="1">
                <a:solidFill>
                  <a:srgbClr val="36D399"/>
                </a:solidFill>
                <a:latin typeface="Aptos"/>
              </a:defRPr>
            </a:pPr>
            <a:r>
              <a:t>91.99%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47872" y="2441448"/>
            <a:ext cx="2093976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A6B0C0"/>
                </a:solidFill>
                <a:latin typeface="Aptos"/>
              </a:defRPr>
            </a:pPr>
            <a:r>
              <a:t>F1-score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35040" y="1783080"/>
            <a:ext cx="2423160" cy="1143000"/>
          </a:xfrm>
          <a:prstGeom prst="roundRect">
            <a:avLst/>
          </a:prstGeom>
          <a:solidFill>
            <a:srgbClr val="151B27"/>
          </a:solidFill>
          <a:ln>
            <a:solidFill>
              <a:srgbClr val="151B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99631" y="1929384"/>
            <a:ext cx="2093976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500" b="1">
                <a:solidFill>
                  <a:srgbClr val="FACC15"/>
                </a:solidFill>
                <a:latin typeface="Aptos"/>
              </a:defRPr>
            </a:pPr>
            <a:r>
              <a:t>49,577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99631" y="2441448"/>
            <a:ext cx="2093976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A6B0C0"/>
                </a:solidFill>
                <a:latin typeface="Aptos"/>
              </a:defRPr>
            </a:pPr>
            <a:r>
              <a:t>Clean reviews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686800" y="1783080"/>
            <a:ext cx="2423160" cy="1143000"/>
          </a:xfrm>
          <a:prstGeom prst="roundRect">
            <a:avLst/>
          </a:prstGeom>
          <a:solidFill>
            <a:srgbClr val="151B27"/>
          </a:solidFill>
          <a:ln>
            <a:solidFill>
              <a:srgbClr val="151B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51392" y="1929384"/>
            <a:ext cx="2093976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500" b="1">
                <a:solidFill>
                  <a:srgbClr val="409AFF"/>
                </a:solidFill>
                <a:latin typeface="Aptos"/>
              </a:defRPr>
            </a:pPr>
            <a:r>
              <a:t>613,727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51392" y="2441448"/>
            <a:ext cx="2093976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A6B0C0"/>
                </a:solidFill>
                <a:latin typeface="Aptos"/>
              </a:defRPr>
            </a:pPr>
            <a:r>
              <a:t>TF-IDF features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3429000"/>
            <a:ext cx="10378440" cy="1600200"/>
          </a:xfrm>
          <a:prstGeom prst="roundRect">
            <a:avLst/>
          </a:prstGeom>
          <a:solidFill>
            <a:srgbClr val="151B27"/>
          </a:solidFill>
          <a:ln>
            <a:solidFill>
              <a:srgbClr val="151B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" y="3703320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36D399"/>
                </a:solidFill>
                <a:latin typeface="Aptos"/>
              </a:defRPr>
            </a:pPr>
            <a:r>
              <a:t>What worked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77440" y="3639312"/>
            <a:ext cx="81381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1">
                <a:solidFill>
                  <a:srgbClr val="F5F7FA"/>
                </a:solidFill>
                <a:latin typeface="Aptos"/>
              </a:defRPr>
            </a:pPr>
            <a:r>
              <a:t>Unigram + bigram features gave SVM the strongest overall performance.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4343400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409AFF"/>
                </a:solidFill>
                <a:latin typeface="Aptos"/>
              </a:defRPr>
            </a:pPr>
            <a:r>
              <a:t>Next step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377440" y="4279392"/>
            <a:ext cx="81381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1">
                <a:solidFill>
                  <a:srgbClr val="F5F7FA"/>
                </a:solidFill>
                <a:latin typeface="Aptos"/>
              </a:defRPr>
            </a:pPr>
            <a:r>
              <a:t>Explore transformer-based models for deeper contextual understanding.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D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508760"/>
            <a:ext cx="106984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4200" b="1">
                <a:solidFill>
                  <a:srgbClr val="F5F7FA"/>
                </a:solidFill>
                <a:latin typeface="Aptos"/>
              </a:defRPr>
            </a:pPr>
            <a: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514600"/>
            <a:ext cx="10332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200" b="0">
                <a:solidFill>
                  <a:srgbClr val="A6B0C0"/>
                </a:solidFill>
                <a:latin typeface="Aptos"/>
              </a:defRPr>
            </a:pPr>
            <a:r>
              <a:t>Sentiment Analysis on Movie Reviews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800600" y="3703320"/>
            <a:ext cx="2606040" cy="329184"/>
          </a:xfrm>
          <a:prstGeom prst="roundRect">
            <a:avLst/>
          </a:prstGeom>
          <a:solidFill>
            <a:srgbClr val="409AFF"/>
          </a:solidFill>
          <a:ln>
            <a:solidFill>
              <a:srgbClr val="409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800600" y="3717035"/>
            <a:ext cx="2606040" cy="2834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0A0D14"/>
                </a:solidFill>
                <a:latin typeface="Aptos"/>
              </a:defRPr>
            </a:pPr>
            <a:r>
              <a:t>QUESTIONS?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663440"/>
            <a:ext cx="10332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0">
                <a:solidFill>
                  <a:srgbClr val="A6B0C0"/>
                </a:solidFill>
                <a:latin typeface="Aptos"/>
              </a:defRPr>
            </a:pPr>
            <a:r>
              <a:t>Linear SVM  •  TF-IDF  •  91.86% accuracy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